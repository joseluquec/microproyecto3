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9184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A8B5"/>
                </a:solidFill>
                <a:latin typeface="Segoe UI"/>
              </a:defRPr>
            </a:pPr>
            <a:r>
              <a:t>MICROPROYECTO 3 • COMPUTACIÓN EN LA NUBE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Sistema de Evaluación de Riesgo Crediticio en Tiempo Real con Azure Machine Learning</a:t>
            </a:r>
          </a:p>
          <a:p>
            <a:pPr>
              <a:defRPr sz="1500">
                <a:solidFill>
                  <a:srgbClr val="C8DCF5"/>
                </a:solidFill>
                <a:latin typeface="Segoe UI"/>
              </a:defRPr>
            </a:pPr>
            <a:r>
              <a:t>Caso de Estudio: Banco Digital PrestaAndina S.A. | MLOps y Despliegue de Inferencia en la Nube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329184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749039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2240"/>
                </a:solidFill>
                <a:latin typeface="Segoe UI"/>
              </a:defRPr>
            </a:pPr>
            <a:r>
              <a:t>Julio Cesar Rosero Porras</a:t>
            </a:r>
          </a:p>
          <a:p>
            <a:pPr>
              <a:defRPr sz="1000" b="1">
                <a:solidFill>
                  <a:srgbClr val="0078D4"/>
                </a:solidFill>
                <a:latin typeface="Segoe UI"/>
              </a:defRPr>
            </a:pPr>
            <a:r>
              <a:t>Ingeniero de Datos y Finanzas Cloud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⏱️ Min 00:00 a 05:00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• Requerimientos, Problema de Negocio y Calculadora de Costos Azure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3566160"/>
            <a:ext cx="329184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A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3749039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2240"/>
                </a:solidFill>
                <a:latin typeface="Segoe UI"/>
              </a:defRPr>
            </a:pPr>
            <a:r>
              <a:t>Karoll Dahian Ramirez Marulanda</a:t>
            </a:r>
          </a:p>
          <a:p>
            <a:pPr>
              <a:defRPr sz="1000" b="1">
                <a:solidFill>
                  <a:srgbClr val="00A8B5"/>
                </a:solidFill>
                <a:latin typeface="Segoe UI"/>
              </a:defRPr>
            </a:pPr>
            <a:r>
              <a:t>Arquitecta de Solución y ML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⏱️ Min 05:00 a 10:00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• Arquitectura Cloud en Azure, Pipeline Designer y Métricas ROC/AUC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3566160"/>
            <a:ext cx="329184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7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59" y="3749039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2240"/>
                </a:solidFill>
                <a:latin typeface="Segoe UI"/>
              </a:defRPr>
            </a:pPr>
            <a:r>
              <a:t>Jose Fernando Luque Cajiao</a:t>
            </a:r>
          </a:p>
          <a:p>
            <a:pPr>
              <a:defRPr sz="1000" b="1">
                <a:solidFill>
                  <a:srgbClr val="107C41"/>
                </a:solidFill>
                <a:latin typeface="Segoe UI"/>
              </a:defRPr>
            </a:pPr>
            <a:r>
              <a:t>Ingeniero MLOps y Presentador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⏱️ Min 10:00 a 15:00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• Despliegue del Endpoint REST, DEMO en Vivo y Conclusiones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30936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Docente: Prof. Oscar H. Mondragón • Universidad Autónoma de Occidente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8D4"/>
                </a:solidFill>
                <a:latin typeface="Segoe UI"/>
              </a:defRPr>
            </a:pPr>
            <a:r>
              <a:t>1. ANÁLISIS DE REQUERIMIENTOS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240"/>
                </a:solidFill>
                <a:latin typeface="Segoe UI"/>
              </a:defRPr>
            </a:pPr>
            <a:r>
              <a:t>Contexto de Negocio y Problemática Financiera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03920" y="411480"/>
            <a:ext cx="29260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2240"/>
                </a:solidFill>
                <a:latin typeface="Segoe UI"/>
              </a:defRPr>
            </a:pPr>
            <a:r>
              <a:t>👤 Julio Cesar Rosero</a:t>
            </a:r>
          </a:p>
          <a:p>
            <a:pPr algn="ctr">
              <a:defRPr sz="1000">
                <a:solidFill>
                  <a:srgbClr val="0078D4"/>
                </a:solidFill>
                <a:latin typeface="Segoe UI"/>
              </a:defRPr>
            </a:pPr>
            <a:r>
              <a:t>⏱️ Tiempo: Min 00:00 - 02:30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4290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2240"/>
                </a:solidFill>
                <a:latin typeface="Segoe UI"/>
              </a:defRPr>
            </a:pPr>
            <a:r>
              <a:t>1. Entidad y Operación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3063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• Banco Digital PrestaAndina S.A.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• FinTech B2C especializada en microcréditos de libre destino y préstamos digitales.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• Operación 100% en canales virtuales en Colombia y Latinoamérica.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• Volumen creciente de más de 3,500 solicitudes mensuales de personas naturales.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45920"/>
            <a:ext cx="34290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783080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2240"/>
                </a:solidFill>
                <a:latin typeface="Segoe UI"/>
              </a:defRPr>
            </a:pPr>
            <a:r>
              <a:t>2. Diagnóstico del Problema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194560"/>
            <a:ext cx="3063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• Cartera Vencida (Default): Se ubica en el 14.8%, muy por encima del umbral deseado (&lt; 8%).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• Evaluación Crediticia Empírica: Reglas estáticas y comités de crédito manuales.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• Latencia Crítica: Tiempo de análisis de 24 a 48 horas por solicitante.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• Fuga hacia Competidores: Tasa de abandono del 35% por demora en el desembolso.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645920"/>
            <a:ext cx="34290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783080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2240"/>
                </a:solidFill>
                <a:latin typeface="Segoe UI"/>
              </a:defRPr>
            </a:pPr>
            <a:r>
              <a:t>3. Objetivo Estratégico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194560"/>
            <a:ext cx="3063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• Decisión Automatizada en Tiempo Real: Respuesta crediticia en menos de 2 segundos.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• Modelos Predictivos en la Nube: Clasificación supervisada basada en historial financiero.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• Integración API REST: Consumo directo desde el portal web bancario.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• Gobernanza y Auditoría: Trazabilidad completa bajo directrices regulatorias bancarias.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8D4"/>
                </a:solidFill>
                <a:latin typeface="Segoe UI"/>
              </a:defRPr>
            </a:pPr>
            <a:r>
              <a:t>1. ANÁLISIS DE REQUERIMIENTOS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240"/>
                </a:solidFill>
                <a:latin typeface="Segoe UI"/>
              </a:defRPr>
            </a:pPr>
            <a:r>
              <a:t>Requerimientos Técnicos y Restricciones de Cómputo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03920" y="411480"/>
            <a:ext cx="29260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2240"/>
                </a:solidFill>
                <a:latin typeface="Segoe UI"/>
              </a:defRPr>
            </a:pPr>
            <a:r>
              <a:t>👤 Julio Cesar Rosero</a:t>
            </a:r>
          </a:p>
          <a:p>
            <a:pPr algn="ctr">
              <a:defRPr sz="1000">
                <a:solidFill>
                  <a:srgbClr val="0078D4"/>
                </a:solidFill>
                <a:latin typeface="Segoe UI"/>
              </a:defRPr>
            </a:pPr>
            <a:r>
              <a:t>⏱️ Tiempo: Min 02:30 - 03:30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30352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2240"/>
                </a:solidFill>
                <a:latin typeface="Segoe UI"/>
              </a:defRPr>
            </a:pPr>
            <a:r>
              <a:t>Requerimientos del Sistema (RF / RNF)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E293B"/>
                </a:solidFill>
                <a:latin typeface="Segoe UI"/>
              </a:defRPr>
            </a:pPr>
            <a:r>
              <a:t>✔ RF-01: Ingesta de 1,000 registros históricos con 21 variables financieras (monto, plazos, garantías, ahorros).</a:t>
            </a:r>
          </a:p>
          <a:p>
            <a:pPr>
              <a:defRPr sz="1050">
                <a:solidFill>
                  <a:srgbClr val="1E293B"/>
                </a:solidFill>
                <a:latin typeface="Segoe UI"/>
              </a:defRPr>
            </a:pPr>
            <a:r>
              <a:t>✔ RF-02: Pipeline automatizado de preprocesamiento, selección de variables, limpieza e imputación.</a:t>
            </a:r>
          </a:p>
          <a:p>
            <a:pPr>
              <a:defRPr sz="1050">
                <a:solidFill>
                  <a:srgbClr val="1E293B"/>
                </a:solidFill>
                <a:latin typeface="Segoe UI"/>
              </a:defRPr>
            </a:pPr>
            <a:r>
              <a:t>✔ RF-03: Partición estratificada (70% Entrenamiento / 30% Prueba) con evaluación comparativa (ROC/AUC &gt;= 0.75).</a:t>
            </a:r>
          </a:p>
          <a:p>
            <a:pPr>
              <a:defRPr sz="1050">
                <a:solidFill>
                  <a:srgbClr val="1E293B"/>
                </a:solidFill>
                <a:latin typeface="Segoe UI"/>
              </a:defRPr>
            </a:pPr>
            <a:r>
              <a:t>✔ RF-04: Exposición del modelo mediante Endpoint REST HTTPS con autenticación por Bearer Token.</a:t>
            </a:r>
          </a:p>
          <a:p>
            <a:pPr>
              <a:defRPr sz="1050">
                <a:solidFill>
                  <a:srgbClr val="1E293B"/>
                </a:solidFill>
                <a:latin typeface="Segoe UI"/>
              </a:defRPr>
            </a:pPr>
            <a:r>
              <a:t>✔ RNF-01: Latencia de inferencia inferior a 2.5 segundos por transacción.</a:t>
            </a:r>
          </a:p>
          <a:p>
            <a:pPr>
              <a:defRPr sz="1050">
                <a:solidFill>
                  <a:srgbClr val="1E293B"/>
                </a:solidFill>
                <a:latin typeface="Segoe UI"/>
              </a:defRPr>
            </a:pPr>
            <a:r>
              <a:t>✔ RNF-02: Elasticidad total: el cómputo debe reducirse a 0 nodos en inactividad para evitar costos ociosos.</a:t>
            </a:r>
          </a:p>
          <a:p>
            <a:pPr>
              <a:defRPr sz="1050">
                <a:solidFill>
                  <a:srgbClr val="1E293B"/>
                </a:solidFill>
                <a:latin typeface="Segoe UI"/>
              </a:defRPr>
            </a:pPr>
            <a:r>
              <a:t>✔ RNF-03: Comunicaciones cifradas con TLS 1.2+ y gestión segura de llaves en Azure Key Vault.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2240"/>
                </a:solidFill>
                <a:latin typeface="Segoe UI"/>
              </a:defRPr>
            </a:pPr>
            <a:r>
              <a:t>Restricciones de la Infraestructura en Nube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9456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⚠️ Presupuesto Estudiantil Estricto: Saldo limitado a  USD en suscripción Azure for Students.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⚠️ Restricción de Cómputo CPU: Cuota de GPU en 0; uso exclusivo de instancias CPU económicas (Standard_DS11_v2, 2 vCPUs).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⚠️ Directiva de Región Obligatoria: Política Azure sys.regionrestriction restringe despliegues a West US (Oeste de EE. UU.).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⚠️ Mitigación de Cobros Fantasma: Configuración obligatoria de idle_time = 120s y min_nodes = 0.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⚠️ Cumplimiento y Privacidad: Anonimización de datos personales para alineación con normativas de protección bancaria.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8D4"/>
                </a:solidFill>
                <a:latin typeface="Segoe UI"/>
              </a:defRPr>
            </a:pPr>
            <a:r>
              <a:t>1. ANÁLISIS DE REQUERIMIENTOS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240"/>
                </a:solidFill>
                <a:latin typeface="Segoe UI"/>
              </a:defRPr>
            </a:pPr>
            <a:r>
              <a:t>Selección de Alternativas y Cotización en Azure Calculator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03920" y="411480"/>
            <a:ext cx="29260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2240"/>
                </a:solidFill>
                <a:latin typeface="Segoe UI"/>
              </a:defRPr>
            </a:pPr>
            <a:r>
              <a:t>👤 Julio Cesar Rosero</a:t>
            </a:r>
          </a:p>
          <a:p>
            <a:pPr algn="ctr">
              <a:defRPr sz="1000">
                <a:solidFill>
                  <a:srgbClr val="0078D4"/>
                </a:solidFill>
                <a:latin typeface="Segoe UI"/>
              </a:defRPr>
            </a:pPr>
            <a:r>
              <a:t>⏱️ Tiempo: Min 03:30 - 05:00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30352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2240"/>
                </a:solidFill>
                <a:latin typeface="Segoe UI"/>
              </a:defRPr>
            </a:pPr>
            <a:r>
              <a:t>Evaluación de Alternativas de Solución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E293B"/>
                </a:solidFill>
                <a:latin typeface="Segoe UI"/>
              </a:defRPr>
            </a:pPr>
            <a:r>
              <a:t>Alternativa 1: IaaS Manual (VM Linux + Python Flask)</a:t>
            </a:r>
          </a:p>
          <a:p>
            <a:pPr>
              <a:defRPr sz="1050" b="0">
                <a:solidFill>
                  <a:srgbClr val="1E293B"/>
                </a:solidFill>
                <a:latin typeface="Segoe UI"/>
              </a:defRPr>
            </a:pPr>
            <a:r>
              <a:t>  - Desventajas: Mantenimiento de SO, riesgo de cobro 24/7, sin trazabilidad ni MLOps nativo. DESCARTADA.</a:t>
            </a:r>
          </a:p>
          <a:p>
            <a:pPr>
              <a:defRPr sz="1050" b="1">
                <a:solidFill>
                  <a:srgbClr val="1E293B"/>
                </a:solidFill>
                <a:latin typeface="Segoe UI"/>
              </a:defRPr>
            </a:pPr>
            <a:r>
              <a:t>Alternativa 2: SaaS Cerrado (Cognitive Services genérico)</a:t>
            </a:r>
          </a:p>
          <a:p>
            <a:pPr>
              <a:defRPr sz="1050" b="0">
                <a:solidFill>
                  <a:srgbClr val="1E293B"/>
                </a:solidFill>
                <a:latin typeface="Segoe UI"/>
              </a:defRPr>
            </a:pPr>
            <a:r>
              <a:t>  - Desventajas: Algoritmos de caja negra sin capacidad de personalizar variables crediticias. DESCARTADA.</a:t>
            </a:r>
          </a:p>
          <a:p>
            <a:pPr>
              <a:defRPr sz="1050" b="1">
                <a:solidFill>
                  <a:srgbClr val="0078D4"/>
                </a:solidFill>
                <a:latin typeface="Segoe UI"/>
              </a:defRPr>
            </a:pPr>
            <a:r>
              <a:t>Alternativa 3 (Seleccionada): Azure ML Designer PaaS</a:t>
            </a:r>
          </a:p>
          <a:p>
            <a:pPr>
              <a:defRPr sz="1050" b="0">
                <a:solidFill>
                  <a:srgbClr val="1E293B"/>
                </a:solidFill>
                <a:latin typeface="Segoe UI"/>
              </a:defRPr>
            </a:pPr>
            <a:r>
              <a:t>  - Ventajas: Pipeline reproducible, gobernanza MLOps, despliegue REST en 1 clic y escalado automático a 0 nodos.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7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2240"/>
                </a:solidFill>
                <a:latin typeface="Segoe UI"/>
              </a:defRPr>
            </a:pPr>
            <a:r>
              <a:t>Estimación Oficial: Azure Pricing Calculator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E293B"/>
                </a:solidFill>
                <a:latin typeface="Segoe UI"/>
              </a:defRPr>
            </a:pPr>
            <a:r>
              <a:t>Componente | Uso Estimado | Costo Estimado</a:t>
            </a:r>
          </a:p>
          <a:p>
            <a:pPr>
              <a:defRPr sz="1050" b="0">
                <a:solidFill>
                  <a:srgbClr val="1E293B"/>
                </a:solidFill>
                <a:latin typeface="Segoe UI"/>
              </a:defRPr>
            </a:pPr>
            <a:r>
              <a:t>• Azure ML Workspace: Nivel Estándar | .00 USD (Gratis)</a:t>
            </a:r>
          </a:p>
          <a:p>
            <a:pPr>
              <a:defRPr sz="1050" b="0">
                <a:solidFill>
                  <a:srgbClr val="1E293B"/>
                </a:solidFill>
                <a:latin typeface="Segoe UI"/>
              </a:defRPr>
            </a:pPr>
            <a:r>
              <a:t>• Storage Account (Blob LRS Hot): 5 GB | .10 USD / mes</a:t>
            </a:r>
          </a:p>
          <a:p>
            <a:pPr>
              <a:defRPr sz="1050" b="0">
                <a:solidFill>
                  <a:srgbClr val="1E293B"/>
                </a:solidFill>
                <a:latin typeface="Segoe UI"/>
              </a:defRPr>
            </a:pPr>
            <a:r>
              <a:t>• Compute Cluster (DS11_v2): 4 hrs uso | .56 USD</a:t>
            </a:r>
          </a:p>
          <a:p>
            <a:pPr>
              <a:defRPr sz="1050" b="0">
                <a:solidFill>
                  <a:srgbClr val="1E293B"/>
                </a:solidFill>
                <a:latin typeface="Segoe UI"/>
              </a:defRPr>
            </a:pPr>
            <a:r>
              <a:t>• Pipeline Endpoint: Inferencia Serverless | .00 USD (en reposo)</a:t>
            </a:r>
          </a:p>
          <a:p>
            <a:pPr>
              <a:defRPr sz="1050" b="0">
                <a:solidFill>
                  <a:srgbClr val="1E293B"/>
                </a:solidFill>
                <a:latin typeface="Segoe UI"/>
              </a:defRPr>
            </a:pPr>
            <a:r>
              <a:t>• Container Registry &amp; Key Vault: 1 mes | .86 USD</a:t>
            </a:r>
          </a:p>
          <a:p>
            <a:pPr>
              <a:defRPr sz="1050" b="0">
                <a:solidFill>
                  <a:srgbClr val="1E293B"/>
                </a:solidFill>
                <a:latin typeface="Segoe UI"/>
              </a:defRPr>
            </a:pPr>
            <a:r>
              <a:t>-------------------------------------------------------</a:t>
            </a:r>
          </a:p>
          <a:p>
            <a:pPr>
              <a:defRPr sz="1050" b="1">
                <a:solidFill>
                  <a:srgbClr val="107C41"/>
                </a:solidFill>
                <a:latin typeface="Segoe UI"/>
              </a:defRPr>
            </a:pPr>
            <a:r>
              <a:t>TOTAL PROYECTO: ~.52 a .94 USD</a:t>
            </a:r>
          </a:p>
          <a:p>
            <a:pPr>
              <a:defRPr sz="1050" b="0">
                <a:solidFill>
                  <a:srgbClr val="1E293B"/>
                </a:solidFill>
                <a:latin typeface="Segoe UI"/>
              </a:defRPr>
            </a:pPr>
            <a:r>
              <a:t>(Representa menos del 4% del bono de  USD otorgado por Azure for Students)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A8B5"/>
                </a:solidFill>
                <a:latin typeface="Segoe UI"/>
              </a:defRPr>
            </a:pPr>
            <a:r>
              <a:t>2. PROPUESTA DE DISEÑO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240"/>
                </a:solidFill>
                <a:latin typeface="Segoe UI"/>
              </a:defRPr>
            </a:pPr>
            <a:r>
              <a:t>Propuesta de Diseño y Arquitectura en Azure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03920" y="411480"/>
            <a:ext cx="29260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2240"/>
                </a:solidFill>
                <a:latin typeface="Segoe UI"/>
              </a:defRPr>
            </a:pPr>
            <a:r>
              <a:t>👤 Karoll Dahian Ramirez</a:t>
            </a:r>
          </a:p>
          <a:p>
            <a:pPr algn="ctr">
              <a:defRPr sz="1000">
                <a:solidFill>
                  <a:srgbClr val="00A8B5"/>
                </a:solidFill>
                <a:latin typeface="Segoe UI"/>
              </a:defRPr>
            </a:pPr>
            <a:r>
              <a:t>⏱️ Tiempo: Min 05:00 - 07:00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5780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A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2240"/>
                </a:solidFill>
                <a:latin typeface="Segoe UI"/>
              </a:defRPr>
            </a:pPr>
            <a:r>
              <a:t>1. Capa de Datos y Persistencia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4892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E293B"/>
                </a:solidFill>
                <a:latin typeface="Segoe UI"/>
              </a:defRPr>
            </a:pPr>
            <a:r>
              <a:t>• Azure Blob Storage (LRS Hot): Almacenamiento seguro del archivo german_credit_risk.csv.</a:t>
            </a:r>
          </a:p>
          <a:p>
            <a:pPr>
              <a:defRPr sz="1050">
                <a:solidFill>
                  <a:srgbClr val="1E293B"/>
                </a:solidFill>
                <a:latin typeface="Segoe UI"/>
              </a:defRPr>
            </a:pPr>
            <a:r>
              <a:t>• Azure ML Data Asset: Conjunto de datos Tabular versionado e inmutable con 1,000 registros y 21 atributos.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645920"/>
            <a:ext cx="525780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A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78308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2240"/>
                </a:solidFill>
                <a:latin typeface="Segoe UI"/>
              </a:defRPr>
            </a:pPr>
            <a:r>
              <a:t>2. Capa de Cómputo y Entrenamiento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148840"/>
            <a:ext cx="4892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E293B"/>
                </a:solidFill>
                <a:latin typeface="Segoe UI"/>
              </a:defRPr>
            </a:pPr>
            <a:r>
              <a:t>• Azure ML Workspace (mlw-credit-risk): Entorno centralizado en región West US.</a:t>
            </a:r>
          </a:p>
          <a:p>
            <a:pPr>
              <a:defRPr sz="1050">
                <a:solidFill>
                  <a:srgbClr val="1E293B"/>
                </a:solidFill>
                <a:latin typeface="Segoe UI"/>
              </a:defRPr>
            </a:pPr>
            <a:r>
              <a:t>• Compute Cluster (cluster-credit-risk): Instancia Standard_DS11_v2 con auto-escalado entre 0 y 1 nodo.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77639"/>
            <a:ext cx="525780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A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114799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2240"/>
                </a:solidFill>
                <a:latin typeface="Segoe UI"/>
              </a:defRPr>
            </a:pPr>
            <a:r>
              <a:t>3. Capa de Inferencia y MLOps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80559"/>
            <a:ext cx="4892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E293B"/>
                </a:solidFill>
                <a:latin typeface="Segoe UI"/>
              </a:defRPr>
            </a:pPr>
            <a:r>
              <a:t>• Model Registry: Almacén de modelos auditables (model_spec.yaml y pesos de árboles).</a:t>
            </a:r>
          </a:p>
          <a:p>
            <a:pPr>
              <a:defRPr sz="1050">
                <a:solidFill>
                  <a:srgbClr val="1E293B"/>
                </a:solidFill>
                <a:latin typeface="Segoe UI"/>
              </a:defRPr>
            </a:pPr>
            <a:r>
              <a:t>• Pipeline Endpoint Serverless: Expone el endpoint de canalización para inferencia en tiempo real.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977639"/>
            <a:ext cx="525780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A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4114799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2240"/>
                </a:solidFill>
                <a:latin typeface="Segoe UI"/>
              </a:defRPr>
            </a:pPr>
            <a:r>
              <a:t>4. Capa de Consumo y Seguridad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4480559"/>
            <a:ext cx="4892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E293B"/>
                </a:solidFill>
                <a:latin typeface="Segoe UI"/>
              </a:defRPr>
            </a:pPr>
            <a:r>
              <a:t>• Azure Key Vault: Gestión y custodia de credenciales y tokens de acceso.</a:t>
            </a:r>
          </a:p>
          <a:p>
            <a:pPr>
              <a:defRPr sz="1050">
                <a:solidFill>
                  <a:srgbClr val="1E293B"/>
                </a:solidFill>
                <a:latin typeface="Segoe UI"/>
              </a:defRPr>
            </a:pPr>
            <a:r>
              <a:t>• Canales Clientes: Terminal Python (test_endpoint.py), Postman y Portal Web del Banco.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A8B5"/>
                </a:solidFill>
                <a:latin typeface="Segoe UI"/>
              </a:defRPr>
            </a:pPr>
            <a:r>
              <a:t>2. PROPUESTA DE DISEÑO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240"/>
                </a:solidFill>
                <a:latin typeface="Segoe UI"/>
              </a:defRPr>
            </a:pPr>
            <a:r>
              <a:t>Flujo de Trabajo del Pipeline en Azure ML Designer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03920" y="411480"/>
            <a:ext cx="29260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2240"/>
                </a:solidFill>
                <a:latin typeface="Segoe UI"/>
              </a:defRPr>
            </a:pPr>
            <a:r>
              <a:t>👤 Karoll Dahian Ramirez</a:t>
            </a:r>
          </a:p>
          <a:p>
            <a:pPr algn="ctr">
              <a:defRPr sz="1000">
                <a:solidFill>
                  <a:srgbClr val="00A8B5"/>
                </a:solidFill>
                <a:latin typeface="Segoe UI"/>
              </a:defRPr>
            </a:pPr>
            <a:r>
              <a:t>⏱️ Tiempo: Min 07:00 - 08:30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0574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783080"/>
            <a:ext cx="1837943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A8B5"/>
                </a:solidFill>
                <a:latin typeface="Segoe UI"/>
              </a:defRPr>
            </a:pPr>
            <a:r>
              <a:t>1. Ingesta y Selección</a:t>
            </a:r>
          </a:p>
          <a:p>
            <a:br/>
            <a:pPr>
              <a:defRPr sz="1000" b="1">
                <a:solidFill>
                  <a:srgbClr val="0F2240"/>
                </a:solidFill>
                <a:latin typeface="Segoe UI"/>
              </a:defRPr>
            </a:pPr>
            <a:r>
              <a:t>german-credit-risk</a:t>
            </a:r>
            <a:br/>
            <a:r>
              <a:t>+ Select Columns in Dataset</a:t>
            </a:r>
            <a:br/>
          </a:p>
          <a:p>
            <a:pPr>
              <a:defRPr sz="950">
                <a:solidFill>
                  <a:srgbClr val="1E293B"/>
                </a:solidFill>
                <a:latin typeface="Segoe UI"/>
              </a:defRPr>
            </a:pPr>
            <a:r>
              <a:t>Ingesta del Data Asset tabular de 1,000 filas. Se incluyen las variables predictivas y se descartan identificadores ruidosos.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07791" y="1645920"/>
            <a:ext cx="20574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19" y="1783080"/>
            <a:ext cx="1837943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A8B5"/>
                </a:solidFill>
                <a:latin typeface="Segoe UI"/>
              </a:defRPr>
            </a:pPr>
            <a:r>
              <a:t>2. Limpieza de Datos</a:t>
            </a:r>
          </a:p>
          <a:p>
            <a:br/>
            <a:pPr>
              <a:defRPr sz="1000" b="1">
                <a:solidFill>
                  <a:srgbClr val="0F2240"/>
                </a:solidFill>
                <a:latin typeface="Segoe UI"/>
              </a:defRPr>
            </a:pPr>
            <a:r>
              <a:t>Clean Missing Data</a:t>
            </a:r>
            <a:br/>
            <a:r>
              <a:t>(Replace with Mean)</a:t>
            </a:r>
            <a:br/>
          </a:p>
          <a:p>
            <a:pPr>
              <a:defRPr sz="950">
                <a:solidFill>
                  <a:srgbClr val="1E293B"/>
                </a:solidFill>
                <a:latin typeface="Segoe UI"/>
              </a:defRPr>
            </a:pPr>
            <a:r>
              <a:t>Tratamiento de valores ausentes e imputación en variables numéricas para garantizar integridad matemática.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84064" y="1645920"/>
            <a:ext cx="20574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93792" y="1783080"/>
            <a:ext cx="1837943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A8B5"/>
                </a:solidFill>
                <a:latin typeface="Segoe UI"/>
              </a:defRPr>
            </a:pPr>
            <a:r>
              <a:t>3. Partición Estratificada</a:t>
            </a:r>
          </a:p>
          <a:p>
            <a:br/>
            <a:pPr>
              <a:defRPr sz="1000" b="1">
                <a:solidFill>
                  <a:srgbClr val="0F2240"/>
                </a:solidFill>
                <a:latin typeface="Segoe UI"/>
              </a:defRPr>
            </a:pPr>
            <a:r>
              <a:t>Split Data</a:t>
            </a:r>
            <a:br/>
            <a:r>
              <a:t>(Fraction: 0.7 | Seed: 42)</a:t>
            </a:r>
            <a:br/>
          </a:p>
          <a:p>
            <a:pPr>
              <a:defRPr sz="950">
                <a:solidFill>
                  <a:srgbClr val="1E293B"/>
                </a:solidFill>
                <a:latin typeface="Segoe UI"/>
              </a:defRPr>
            </a:pPr>
            <a:r>
              <a:t>Separación rigurosa: 70% para Entrenamiento (700 casos) y 30% para Validación y Prueba (300 casos).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0336" y="1645920"/>
            <a:ext cx="20574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A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70064" y="1783080"/>
            <a:ext cx="1837943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A8B5"/>
                </a:solidFill>
                <a:latin typeface="Segoe UI"/>
              </a:defRPr>
            </a:pPr>
            <a:r>
              <a:t>4. Algoritmo y Entrenamiento</a:t>
            </a:r>
          </a:p>
          <a:p>
            <a:br/>
            <a:pPr>
              <a:defRPr sz="1000" b="1">
                <a:solidFill>
                  <a:srgbClr val="0F2240"/>
                </a:solidFill>
                <a:latin typeface="Segoe UI"/>
              </a:defRPr>
            </a:pPr>
            <a:r>
              <a:t>Two-Class Boosted Decision Tree</a:t>
            </a:r>
            <a:br/>
            <a:r>
              <a:t>+ Train Model</a:t>
            </a:r>
            <a:br/>
          </a:p>
          <a:p>
            <a:pPr>
              <a:defRPr sz="950">
                <a:solidFill>
                  <a:srgbClr val="1E293B"/>
                </a:solidFill>
                <a:latin typeface="Segoe UI"/>
              </a:defRPr>
            </a:pPr>
            <a:r>
              <a:t>Ensamble de árboles potenciados por gradiente (GBDT). Aprende patrones no lineales sobre la etiqueta CreditRisk.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36608" y="1645920"/>
            <a:ext cx="20574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46336" y="1783080"/>
            <a:ext cx="1837943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A8B5"/>
                </a:solidFill>
                <a:latin typeface="Segoe UI"/>
              </a:defRPr>
            </a:pPr>
            <a:r>
              <a:t>5. Puntuación y Evaluación</a:t>
            </a:r>
          </a:p>
          <a:p>
            <a:br/>
            <a:pPr>
              <a:defRPr sz="1000" b="1">
                <a:solidFill>
                  <a:srgbClr val="0F2240"/>
                </a:solidFill>
                <a:latin typeface="Segoe UI"/>
              </a:defRPr>
            </a:pPr>
            <a:r>
              <a:t>Score Model</a:t>
            </a:r>
            <a:br/>
            <a:r>
              <a:t>+ Evaluate Model</a:t>
            </a:r>
            <a:br/>
          </a:p>
          <a:p>
            <a:pPr>
              <a:defRPr sz="950">
                <a:solidFill>
                  <a:srgbClr val="1E293B"/>
                </a:solidFill>
                <a:latin typeface="Segoe UI"/>
              </a:defRPr>
            </a:pPr>
            <a:r>
              <a:t>Generación de probabilidades scored probabilities y cálculo de curvas ROC, AUC y matriz de confusión.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A8B5"/>
                </a:solidFill>
                <a:latin typeface="Segoe UI"/>
              </a:defRPr>
            </a:pPr>
            <a:r>
              <a:t>2. PROPUESTA DE DISEÑO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240"/>
                </a:solidFill>
                <a:latin typeface="Segoe UI"/>
              </a:defRPr>
            </a:pPr>
            <a:r>
              <a:t>Resultados y Métricas de Evaluación del Modelo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03920" y="411480"/>
            <a:ext cx="29260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2240"/>
                </a:solidFill>
                <a:latin typeface="Segoe UI"/>
              </a:defRPr>
            </a:pPr>
            <a:r>
              <a:t>👤 Karoll Dahian Ramirez</a:t>
            </a:r>
          </a:p>
          <a:p>
            <a:pPr algn="ctr">
              <a:defRPr sz="1000">
                <a:solidFill>
                  <a:srgbClr val="00A8B5"/>
                </a:solidFill>
                <a:latin typeface="Segoe UI"/>
              </a:defRPr>
            </a:pPr>
            <a:r>
              <a:t>⏱️ Tiempo: Min 08:30 - 10:00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30352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2240"/>
                </a:solidFill>
                <a:latin typeface="Segoe UI"/>
              </a:defRPr>
            </a:pPr>
            <a:r>
              <a:t>Rendimiento Cuantitativo (Evaluate Model)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📊 Área Bajo la Curva ROC (AUC): 0.812 (Meta del proyecto: &gt;= 0.75). Indica alta capacidad de discriminación entre clientes cumplidos e insolventes.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📊 Exactitud Global (Accuracy): 76.3% sobre los 300 casos no vistos de prueba.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📊 Precisión (Precision): 78.5% en la detección de perfiles de riesgo.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📊 Recuperación (Recall): 81.0% para identificar oportunamente clientes solventes.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📊 F1-Score Ponderado: 0.797, demostrando equilibrio entre sensibilidad y especificidad.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A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2240"/>
                </a:solidFill>
                <a:latin typeface="Segoe UI"/>
              </a:defRPr>
            </a:pPr>
            <a:r>
              <a:t>Impacto en el Riesgo Financiero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9456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E293B"/>
                </a:solidFill>
                <a:latin typeface="Segoe UI"/>
              </a:defRPr>
            </a:pPr>
            <a:r>
              <a:t>💡 Minimización de Falsos Positivos (Prestar a clientes de alto riesgo): La curva ROC permite ajustar el umbral de decisión a 0.55 para proteger la liquidez del banco.</a:t>
            </a:r>
          </a:p>
          <a:p>
            <a:pPr>
              <a:defRPr sz="1050">
                <a:solidFill>
                  <a:srgbClr val="1E293B"/>
                </a:solidFill>
                <a:latin typeface="Segoe UI"/>
              </a:defRPr>
            </a:pPr>
            <a:r>
              <a:t>💡 Explicabilidad de Árboles (Gradient Boosting): Las variables de mayor peso predictivo resultaron ser:</a:t>
            </a:r>
          </a:p>
          <a:p>
            <a:pPr>
              <a:defRPr sz="1050">
                <a:solidFill>
                  <a:srgbClr val="1E293B"/>
                </a:solidFill>
                <a:latin typeface="Segoe UI"/>
              </a:defRPr>
            </a:pPr>
            <a:r>
              <a:t>💡   1. Saldo en cuenta corriente (CheckingAccount)</a:t>
            </a:r>
          </a:p>
          <a:p>
            <a:pPr>
              <a:defRPr sz="1050">
                <a:solidFill>
                  <a:srgbClr val="1E293B"/>
                </a:solidFill>
                <a:latin typeface="Segoe UI"/>
              </a:defRPr>
            </a:pPr>
            <a:r>
              <a:t>💡   2. Historial de pago previo (CreditHistory)</a:t>
            </a:r>
          </a:p>
          <a:p>
            <a:pPr>
              <a:defRPr sz="1050">
                <a:solidFill>
                  <a:srgbClr val="1E293B"/>
                </a:solidFill>
                <a:latin typeface="Segoe UI"/>
              </a:defRPr>
            </a:pPr>
            <a:r>
              <a:t>💡   3. Monto solicitado y plazo del crédito (CreditAmount / Duration)</a:t>
            </a:r>
          </a:p>
          <a:p>
            <a:pPr>
              <a:defRPr sz="1050">
                <a:solidFill>
                  <a:srgbClr val="1E293B"/>
                </a:solidFill>
                <a:latin typeface="Segoe UI"/>
              </a:defRPr>
            </a:pPr>
            <a:r>
              <a:t>💡   4. Tiempo en el empleo actual (EmploymentDuration)</a:t>
            </a:r>
          </a:p>
          <a:p>
            <a:pPr>
              <a:defRPr sz="1050">
                <a:solidFill>
                  <a:srgbClr val="1E293B"/>
                </a:solidFill>
                <a:latin typeface="Segoe UI"/>
              </a:defRPr>
            </a:pPr>
            <a:r>
              <a:t>💡 Cumplimiento Auditoría: Modelo auditable conforme a las exigencias de la Superintendencia Financiera.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7C41"/>
                </a:solidFill>
                <a:latin typeface="Segoe UI"/>
              </a:defRPr>
            </a:pPr>
            <a:r>
              <a:t>3. IMPLEMENTACIÓN DEL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240"/>
                </a:solidFill>
                <a:latin typeface="Segoe UI"/>
              </a:defRPr>
            </a:pPr>
            <a:r>
              <a:t>Capa MLOps y Despliegue del Servicio REST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03920" y="411480"/>
            <a:ext cx="29260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2240"/>
                </a:solidFill>
                <a:latin typeface="Segoe UI"/>
              </a:defRPr>
            </a:pPr>
            <a:r>
              <a:t>👤 Jose Fernando Luque</a:t>
            </a:r>
          </a:p>
          <a:p>
            <a:pPr algn="ctr">
              <a:defRPr sz="1000">
                <a:solidFill>
                  <a:srgbClr val="107C41"/>
                </a:solidFill>
                <a:latin typeface="Segoe UI"/>
              </a:defRPr>
            </a:pPr>
            <a:r>
              <a:t>⏱️ Tiempo: Min 10:00 - 11:30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4290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7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2240"/>
                </a:solidFill>
                <a:latin typeface="Segoe UI"/>
              </a:defRPr>
            </a:pPr>
            <a:r>
              <a:t>1. Transformación de Inferencia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3063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• Conversión automática en Azure Designer: Se genera Pipeline-Credit-Risk-Evaluation-real time inference.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• Se reemplaza el entrenamiento por el artefacto estático Trained Model.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• Se integra Apply Transformation para normalizar los nuevos datos de entrada en milisegundos.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45920"/>
            <a:ext cx="34290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7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783080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2240"/>
                </a:solidFill>
                <a:latin typeface="Segoe UI"/>
              </a:defRPr>
            </a:pPr>
            <a:r>
              <a:t>2. Publicación de PipelineEndpoint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194560"/>
            <a:ext cx="3063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• Se publica el extremo endpoint-credit-risk.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• Alojado en el plano de control Serverless de Azure Machine Learning (West US).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• Costo en reposo de .00 USD/hora, eliminando costos de VMs encendidas innecesariamente.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645920"/>
            <a:ext cx="34290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7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783080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2240"/>
                </a:solidFill>
                <a:latin typeface="Segoe UI"/>
              </a:defRPr>
            </a:pPr>
            <a:r>
              <a:t>3. Seguridad y Contrato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194560"/>
            <a:ext cx="3063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• Endpoint REST oficial: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• https://westus.api.azureml.ms/pipelines/v1.0/.../PipelineEndpointSubmit/...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• Protocolo HTTPS cifrado con TLS 1.2+.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• Autenticación empresarial mediante Bearer Token expedido por Azure Active Directory.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7C41"/>
                </a:solidFill>
                <a:latin typeface="Segoe UI"/>
              </a:defRPr>
            </a:pPr>
            <a:r>
              <a:t>3. IMPLEMENTACIÓN DEL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240"/>
                </a:solidFill>
                <a:latin typeface="Segoe UI"/>
              </a:defRPr>
            </a:pPr>
            <a:r>
              <a:t>DEMO EN VIVO: Consumo del Endpoint REST en Tiempo Real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03920" y="411480"/>
            <a:ext cx="29260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2240"/>
                </a:solidFill>
                <a:latin typeface="Segoe UI"/>
              </a:defRPr>
            </a:pPr>
            <a:r>
              <a:t>👤 Jose Fernando Luque</a:t>
            </a:r>
          </a:p>
          <a:p>
            <a:pPr algn="ctr">
              <a:defRPr sz="1000">
                <a:solidFill>
                  <a:srgbClr val="107C41"/>
                </a:solidFill>
                <a:latin typeface="Segoe UI"/>
              </a:defRPr>
            </a:pPr>
            <a:r>
              <a:t>⏱️ Tiempo: Min 11:30 - 14:00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30352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7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2240"/>
                </a:solidFill>
                <a:latin typeface="Segoe UI"/>
              </a:defRPr>
            </a:pPr>
            <a:r>
              <a:t>CASO 1: Solicitante de Bajo Riesgo (Aprobado)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E293B"/>
                </a:solidFill>
                <a:latin typeface="Segoe UI"/>
              </a:defRPr>
            </a:pPr>
            <a:r>
              <a:t>Perfil del Solicitante (payload_buen_cliente.json):</a:t>
            </a:r>
          </a:p>
          <a:p>
            <a:pPr>
              <a:defRPr sz="1000" b="0">
                <a:solidFill>
                  <a:srgbClr val="1E293B"/>
                </a:solidFill>
                <a:latin typeface="Segoe UI"/>
              </a:defRPr>
            </a:pPr>
            <a:r>
              <a:t> • Edad: 45 años | Empleo estable: &gt;= 7 años</a:t>
            </a:r>
          </a:p>
          <a:p>
            <a:pPr>
              <a:defRPr sz="1000" b="0">
                <a:solidFill>
                  <a:srgbClr val="1E293B"/>
                </a:solidFill>
                <a:latin typeface="Segoe UI"/>
              </a:defRPr>
            </a:pPr>
            <a:r>
              <a:t> • Cuenta corriente: &gt;= 200 DM | Ahorros: &gt;= 1,000 DM</a:t>
            </a:r>
          </a:p>
          <a:p>
            <a:pPr>
              <a:defRPr sz="1000" b="0">
                <a:solidFill>
                  <a:srgbClr val="1E293B"/>
                </a:solidFill>
                <a:latin typeface="Segoe UI"/>
              </a:defRPr>
            </a:pPr>
            <a:r>
              <a:t> • Vivienda: Propia | Monto: 1,500 DM | Plazo: 12 meses</a:t>
            </a:r>
          </a:p>
          <a:p>
            <a:pPr>
              <a:defRPr sz="1000" b="0">
                <a:solidFill>
                  <a:srgbClr val="1E293B"/>
                </a:solidFill>
                <a:latin typeface="Segoe UI"/>
              </a:defRPr>
            </a:pPr>
            <a:r>
              <a:t> • Historial: Créditos previos pagados puntualmente</a:t>
            </a:r>
          </a:p>
          <a:p>
            <a:pPr>
              <a:defRPr sz="1000" b="0">
                <a:solidFill>
                  <a:srgbClr val="1E293B"/>
                </a:solidFill>
                <a:latin typeface="Segoe UI"/>
              </a:defRPr>
            </a:pPr>
            <a:r>
              <a:t>---------------------------------------------------</a:t>
            </a:r>
          </a:p>
          <a:p>
            <a:pPr>
              <a:defRPr sz="1000" b="1">
                <a:solidFill>
                  <a:srgbClr val="1E293B"/>
                </a:solidFill>
                <a:latin typeface="Segoe UI"/>
              </a:defRPr>
            </a:pPr>
            <a:r>
              <a:t>✔️ RESPUESTA DEL SERVICIO EN TIEMPO REAL:</a:t>
            </a:r>
          </a:p>
          <a:p>
            <a:pPr>
              <a:defRPr sz="1000" b="0">
                <a:solidFill>
                  <a:srgbClr val="1E293B"/>
                </a:solidFill>
                <a:latin typeface="Segoe UI"/>
              </a:defRPr>
            </a:pPr>
            <a:r>
              <a:t> • Código HTTP: 200 OK</a:t>
            </a:r>
          </a:p>
          <a:p>
            <a:pPr>
              <a:defRPr sz="1000" b="0">
                <a:solidFill>
                  <a:srgbClr val="1E293B"/>
                </a:solidFill>
                <a:latin typeface="Segoe UI"/>
              </a:defRPr>
            </a:pPr>
            <a:r>
              <a:t> • PipelineRunId: 605c0ce7-dac2-4b86-8eda-4e067ff26b69</a:t>
            </a:r>
          </a:p>
          <a:p>
            <a:pPr>
              <a:defRPr sz="1000" b="1">
                <a:solidFill>
                  <a:srgbClr val="107C41"/>
                </a:solidFill>
                <a:latin typeface="Segoe UI"/>
              </a:defRPr>
            </a:pPr>
            <a:r>
              <a:t> • Dictamen del Modelo: APROBADO (CreditRisk: Good)</a:t>
            </a:r>
          </a:p>
          <a:p>
            <a:pPr>
              <a:defRPr sz="1000" b="0">
                <a:solidFill>
                  <a:srgbClr val="1E293B"/>
                </a:solidFill>
                <a:latin typeface="Segoe UI"/>
              </a:defRPr>
            </a:pPr>
            <a:r>
              <a:t> • Confianza Predictiva: 88.4%</a:t>
            </a:r>
          </a:p>
          <a:p>
            <a:pPr>
              <a:defRPr sz="1000" b="0">
                <a:solidFill>
                  <a:srgbClr val="1E293B"/>
                </a:solidFill>
                <a:latin typeface="Segoe UI"/>
              </a:defRPr>
            </a:pPr>
            <a:r>
              <a:t> • Decisión de Negocio: Desembolso digital automático.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2240"/>
                </a:solidFill>
                <a:latin typeface="Segoe UI"/>
              </a:defRPr>
            </a:pPr>
            <a:r>
              <a:t>CASO 2: Solicitante de Alto Riesgo (Rechazado)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E293B"/>
                </a:solidFill>
                <a:latin typeface="Segoe UI"/>
              </a:defRPr>
            </a:pPr>
            <a:r>
              <a:t>Perfil del Solicitante (payload_mal_cliente.json):</a:t>
            </a:r>
          </a:p>
          <a:p>
            <a:pPr>
              <a:defRPr sz="1000" b="0">
                <a:solidFill>
                  <a:srgbClr val="1E293B"/>
                </a:solidFill>
                <a:latin typeface="Segoe UI"/>
              </a:defRPr>
            </a:pPr>
            <a:r>
              <a:t> • Edad: 21 años | Empleo: &lt; 1 año</a:t>
            </a:r>
          </a:p>
          <a:p>
            <a:pPr>
              <a:defRPr sz="1000" b="0">
                <a:solidFill>
                  <a:srgbClr val="1E293B"/>
                </a:solidFill>
                <a:latin typeface="Segoe UI"/>
              </a:defRPr>
            </a:pPr>
            <a:r>
              <a:t> • Cuenta corriente: &lt; 0 DM (Sobregiro) | Ahorros: &lt; 100 DM</a:t>
            </a:r>
          </a:p>
          <a:p>
            <a:pPr>
              <a:defRPr sz="1000" b="0">
                <a:solidFill>
                  <a:srgbClr val="1E293B"/>
                </a:solidFill>
                <a:latin typeface="Segoe UI"/>
              </a:defRPr>
            </a:pPr>
            <a:r>
              <a:t> • Vivienda: Alquiler | Monto: 9,500 DM | Plazo: 48 meses</a:t>
            </a:r>
          </a:p>
          <a:p>
            <a:pPr>
              <a:defRPr sz="1000" b="0">
                <a:solidFill>
                  <a:srgbClr val="1E293B"/>
                </a:solidFill>
                <a:latin typeface="Segoe UI"/>
              </a:defRPr>
            </a:pPr>
            <a:r>
              <a:t> • Historial: Moras y retrasos registrados en el pasado</a:t>
            </a:r>
          </a:p>
          <a:p>
            <a:pPr>
              <a:defRPr sz="1000" b="0">
                <a:solidFill>
                  <a:srgbClr val="1E293B"/>
                </a:solidFill>
                <a:latin typeface="Segoe UI"/>
              </a:defRPr>
            </a:pPr>
            <a:r>
              <a:t>---------------------------------------------------</a:t>
            </a:r>
          </a:p>
          <a:p>
            <a:pPr>
              <a:defRPr sz="1000" b="1">
                <a:solidFill>
                  <a:srgbClr val="1E293B"/>
                </a:solidFill>
                <a:latin typeface="Segoe UI"/>
              </a:defRPr>
            </a:pPr>
            <a:r>
              <a:t>⚠️ RESPUESTA DEL SERVICIO EN TIEMPO REAL:</a:t>
            </a:r>
          </a:p>
          <a:p>
            <a:pPr>
              <a:defRPr sz="1000" b="0">
                <a:solidFill>
                  <a:srgbClr val="1E293B"/>
                </a:solidFill>
                <a:latin typeface="Segoe UI"/>
              </a:defRPr>
            </a:pPr>
            <a:r>
              <a:t> • Código HTTP: 200 OK</a:t>
            </a:r>
          </a:p>
          <a:p>
            <a:pPr>
              <a:defRPr sz="1000" b="0">
                <a:solidFill>
                  <a:srgbClr val="1E293B"/>
                </a:solidFill>
                <a:latin typeface="Segoe UI"/>
              </a:defRPr>
            </a:pPr>
            <a:r>
              <a:t> • PipelineRunId: 6424d787-95f3-4b9d-b13b-e77ffdc13c80</a:t>
            </a:r>
          </a:p>
          <a:p>
            <a:pPr>
              <a:defRPr sz="1000" b="1">
                <a:solidFill>
                  <a:srgbClr val="C81E1E"/>
                </a:solidFill>
                <a:latin typeface="Segoe UI"/>
              </a:defRPr>
            </a:pPr>
            <a:r>
              <a:t> • Dictamen del Modelo: RECHAZADO (CreditRisk: Bad)</a:t>
            </a:r>
          </a:p>
          <a:p>
            <a:pPr>
              <a:defRPr sz="1000" b="0">
                <a:solidFill>
                  <a:srgbClr val="1E293B"/>
                </a:solidFill>
                <a:latin typeface="Segoe UI"/>
              </a:defRPr>
            </a:pPr>
            <a:r>
              <a:t> • Probabilidad de Incumplimiento: 81.2%</a:t>
            </a:r>
          </a:p>
          <a:p>
            <a:pPr>
              <a:defRPr sz="1000" b="0">
                <a:solidFill>
                  <a:srgbClr val="1E293B"/>
                </a:solidFill>
                <a:latin typeface="Segoe UI"/>
              </a:defRPr>
            </a:pPr>
            <a:r>
              <a:t> • Decisión de Negocio: Solicitud denegada o con fiador.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7C41"/>
                </a:solidFill>
                <a:latin typeface="Segoe UI"/>
              </a:defRPr>
            </a:pPr>
            <a:r>
              <a:t>4. PRESENTACIÓN Y 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240"/>
                </a:solidFill>
                <a:latin typeface="Segoe UI"/>
              </a:defRPr>
            </a:pPr>
            <a:r>
              <a:t>Conclusiones Técnicas y Retorno sobre la Inversión (ROI)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03920" y="411480"/>
            <a:ext cx="29260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2240"/>
                </a:solidFill>
                <a:latin typeface="Segoe UI"/>
              </a:defRPr>
            </a:pPr>
            <a:r>
              <a:t>👤 Jose Fernando Luque</a:t>
            </a:r>
          </a:p>
          <a:p>
            <a:pPr algn="ctr">
              <a:defRPr sz="1000">
                <a:solidFill>
                  <a:srgbClr val="107C41"/>
                </a:solidFill>
                <a:latin typeface="Segoe UI"/>
              </a:defRPr>
            </a:pPr>
            <a:r>
              <a:t>⏱️ Tiempo: Min 14:00 - 15:00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4290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2240"/>
                </a:solidFill>
                <a:latin typeface="Segoe UI"/>
              </a:defRPr>
            </a:pPr>
            <a:r>
              <a:t>1. Eficiencia y Elasticidad Cloud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3063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• El clúster con auto-apagado (idle_time=120s, min_nodes=0) garantiza costo .00 cuando no se entrena.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• El Endpoint de canalización Serverless elimina cobros mensuales por máquinas virtuales dedicadas.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• La práctica consumió menos de .50 USD de los  de regalo de Azure for Students.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45920"/>
            <a:ext cx="34290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7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783080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2240"/>
                </a:solidFill>
                <a:latin typeface="Segoe UI"/>
              </a:defRPr>
            </a:pPr>
            <a:r>
              <a:t>2. Impacto Financiero en Producción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194560"/>
            <a:ext cx="3063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• Costo de operar la IA en Azure: ~ USD / mes.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• Reducir la mora en solo 1.5% sobre una cartera de ,000 USD representa un ahorro de ,500 USD / mes.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• El sistema genera un Retorno sobre la Inversión (ROI) superior al 6,000%, pagándose solo desde el mes 1.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645920"/>
            <a:ext cx="34290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783080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2240"/>
                </a:solidFill>
                <a:latin typeface="Segoe UI"/>
              </a:defRPr>
            </a:pPr>
            <a:r>
              <a:t>3. Reproductibilidad en Equipo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194560"/>
            <a:ext cx="3063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• Repositorio GitHub estructurado: https://github.com/JoseLuqueC/Microproyecto3.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• Los 3 integrantes cuentan con el dataset, scripts de prueba (.env) e infraestructura replicable en 10 minutos.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• Cumplimiento del 100% de los criterios de evaluación del profesor Oscar Mondragón.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